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64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7FFF"/>
    <a:srgbClr val="0F2D50"/>
    <a:srgbClr val="EE1E4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38B1855-1B75-4FBE-930C-398BA8C253C6}" styleName="Стиль из темы 2 - акцент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Темный стиль 1 — акцент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46F890A9-2807-4EBB-B81D-B2AA78EC7F39}" styleName="Темный стиль 2 — акцент 5/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34587" autoAdjust="0"/>
    <p:restoredTop sz="94660" autoAdjust="0"/>
  </p:normalViewPr>
  <p:slideViewPr>
    <p:cSldViewPr snapToGrid="0">
      <p:cViewPr>
        <p:scale>
          <a:sx n="70" d="100"/>
          <a:sy n="70" d="100"/>
        </p:scale>
        <p:origin x="-1152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880" y="90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chart>
    <c:plotArea>
      <c:layout/>
      <c:barChart>
        <c:barDir val="col"/>
        <c:grouping val="stacked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overlap val="100"/>
        <c:axId val="117824128"/>
        <c:axId val="118040448"/>
      </c:barChart>
      <c:catAx>
        <c:axId val="117824128"/>
        <c:scaling>
          <c:orientation val="minMax"/>
        </c:scaling>
        <c:axPos val="b"/>
        <c:tickLblPos val="nextTo"/>
        <c:crossAx val="118040448"/>
        <c:crosses val="autoZero"/>
        <c:auto val="1"/>
        <c:lblAlgn val="ctr"/>
        <c:lblOffset val="100"/>
      </c:catAx>
      <c:valAx>
        <c:axId val="118040448"/>
        <c:scaling>
          <c:orientation val="minMax"/>
        </c:scaling>
        <c:axPos val="l"/>
        <c:majorGridlines/>
        <c:numFmt formatCode="General" sourceLinked="1"/>
        <c:tickLblPos val="nextTo"/>
        <c:crossAx val="117824128"/>
        <c:crosses val="autoZero"/>
        <c:crossBetween val="between"/>
      </c:valAx>
    </c:plotArea>
    <c:legend>
      <c:legendPos val="r"/>
      <c:layout/>
    </c:legend>
    <c:plotVisOnly val="1"/>
  </c:chart>
  <c:txPr>
    <a:bodyPr/>
    <a:lstStyle/>
    <a:p>
      <a:pPr>
        <a:defRPr sz="1800"/>
      </a:pPr>
      <a:endParaRPr lang="ru-RU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chart>
    <c:view3D>
      <c:rAngAx val="1"/>
    </c:view3D>
    <c:plotArea>
      <c:layout/>
      <c:bar3DChart>
        <c:barDir val="col"/>
        <c:grouping val="stacked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cat>
            <c:strRef>
              <c:f>Лист1!$A$2:$A$3</c:f>
              <c:strCache>
                <c:ptCount val="2"/>
                <c:pt idx="0">
                  <c:v>До</c:v>
                </c:pt>
                <c:pt idx="1">
                  <c:v>После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</c:v>
                </c:pt>
                <c:pt idx="1">
                  <c:v>5</c:v>
                </c:pt>
              </c:numCache>
            </c:numRef>
          </c:val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0</c:v>
                </c:pt>
              </c:strCache>
            </c:strRef>
          </c:tx>
          <c:cat>
            <c:strRef>
              <c:f>Лист1!$A$2:$A$3</c:f>
              <c:strCache>
                <c:ptCount val="2"/>
                <c:pt idx="0">
                  <c:v>До</c:v>
                </c:pt>
                <c:pt idx="1">
                  <c:v>После</c:v>
                </c:pt>
              </c:strCache>
            </c:str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hape val="cylinder"/>
        <c:axId val="119554432"/>
        <c:axId val="119556352"/>
        <c:axId val="0"/>
      </c:bar3DChart>
      <c:catAx>
        <c:axId val="119554432"/>
        <c:scaling>
          <c:orientation val="minMax"/>
        </c:scaling>
        <c:axPos val="b"/>
        <c:tickLblPos val="nextTo"/>
        <c:crossAx val="119556352"/>
        <c:crosses val="autoZero"/>
        <c:auto val="1"/>
        <c:lblAlgn val="ctr"/>
        <c:lblOffset val="100"/>
      </c:catAx>
      <c:valAx>
        <c:axId val="119556352"/>
        <c:scaling>
          <c:orientation val="minMax"/>
        </c:scaling>
        <c:axPos val="l"/>
        <c:majorGridlines/>
        <c:numFmt formatCode="General" sourceLinked="1"/>
        <c:tickLblPos val="nextTo"/>
        <c:crossAx val="119554432"/>
        <c:crosses val="autoZero"/>
        <c:crossBetween val="between"/>
      </c:valAx>
    </c:plotArea>
    <c:plotVisOnly val="1"/>
  </c:chart>
  <c:txPr>
    <a:bodyPr/>
    <a:lstStyle/>
    <a:p>
      <a:pPr>
        <a:defRPr sz="1800"/>
      </a:pPr>
      <a:endParaRPr lang="ru-RU"/>
    </a:p>
  </c:txPr>
  <c:externalData r:id="rId1"/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B3CFD5BF-3B4D-478C-BADB-1D33AAF66F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69F9859E-4441-474C-BA41-6FF9FEE82E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E0B199-7C24-4927-AA7F-1844CE6A66EF}" type="datetimeFigureOut">
              <a:rPr lang="ru-RU" smtClean="0"/>
              <a:pPr/>
              <a:t>13.01.2026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9FDAAFD6-EC9C-4CC7-901E-751639C922E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18E62D9D-81B4-43A2-B3FE-11DA219453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0F79A6-447C-4DFB-A591-0B791109783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902103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1712B-BF66-4FD1-B1B3-31262EB229C3}" type="datetimeFigureOut">
              <a:rPr lang="ru-RU" smtClean="0"/>
              <a:pPr/>
              <a:t>13.01.2026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5FC64-E278-478C-8AC5-EC5A94C7D3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77409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17AC94A-4754-4BFD-B820-14CF5376EA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53390" y="3691050"/>
            <a:ext cx="6837218" cy="1563803"/>
          </a:xfrm>
        </p:spPr>
        <p:txBody>
          <a:bodyPr anchor="b">
            <a:normAutofit/>
          </a:bodyPr>
          <a:lstStyle>
            <a:lvl1pPr algn="ctr">
              <a:defRPr sz="2800" b="1"/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08080C84-81F4-4FA3-B462-36A3FA397B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53390" y="5379350"/>
            <a:ext cx="6837218" cy="97700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0F2D50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>
              <a:lnSpc>
                <a:spcPct val="100000"/>
              </a:lnSpc>
            </a:pPr>
            <a:r>
              <a:rPr lang="ru-RU" sz="2000" dirty="0"/>
              <a:t>Ф.И.О автора</a:t>
            </a:r>
            <a:br>
              <a:rPr lang="ru-RU" sz="2000" dirty="0"/>
            </a:br>
            <a:r>
              <a:rPr lang="ru-RU" sz="2000" dirty="0"/>
              <a:t>Должность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xmlns="" id="{2B6864AF-5967-491F-B2C2-94648D490B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0763" y="6483350"/>
            <a:ext cx="1773237" cy="37465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600"/>
            </a:lvl1pPr>
          </a:lstStyle>
          <a:p>
            <a:pPr lvl="0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xmlns="" val="336190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0154F8B-AE4A-4584-BD2A-D41A4DDC1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038" y="383124"/>
            <a:ext cx="7350530" cy="723842"/>
          </a:xfrm>
        </p:spPr>
        <p:txBody>
          <a:bodyPr>
            <a:normAutofit/>
          </a:bodyPr>
          <a:lstStyle>
            <a:lvl1pPr algn="ctr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1868592-B2B3-4FB9-A02F-FDED0EE0B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28594" indent="-228594">
              <a:buFontTx/>
              <a:buBlip>
                <a:blip r:embed="rId3"/>
              </a:buBlip>
              <a:defRPr sz="1600"/>
            </a:lvl1pPr>
            <a:lvl2pPr marL="685783" indent="-228594">
              <a:buFontTx/>
              <a:buBlip>
                <a:blip r:embed="rId3"/>
              </a:buBlip>
              <a:defRPr sz="1600"/>
            </a:lvl2pPr>
            <a:lvl3pPr marL="1142971" indent="-228594">
              <a:buFontTx/>
              <a:buBlip>
                <a:blip r:embed="rId3"/>
              </a:buBlip>
              <a:defRPr sz="1600"/>
            </a:lvl3pPr>
            <a:lvl4pPr marL="1600160" indent="-228594">
              <a:buFontTx/>
              <a:buBlip>
                <a:blip r:embed="rId3"/>
              </a:buBlip>
              <a:defRPr sz="1600"/>
            </a:lvl4pPr>
            <a:lvl5pPr marL="2057349" indent="-228594">
              <a:buFontTx/>
              <a:buBlip>
                <a:blip r:embed="rId3"/>
              </a:buBlip>
              <a:defRPr sz="16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19" name="Объект 15">
            <a:extLst>
              <a:ext uri="{FF2B5EF4-FFF2-40B4-BE49-F238E27FC236}">
                <a16:creationId xmlns:a16="http://schemas.microsoft.com/office/drawing/2014/main" xmlns="" id="{B663B764-3D6D-4BB6-B31A-B2D601808C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721569" y="6410709"/>
            <a:ext cx="212119" cy="256415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5pPr marL="1828755" indent="0">
              <a:buNone/>
              <a:defRPr/>
            </a:lvl5pPr>
          </a:lstStyle>
          <a:p>
            <a:pPr lvl="0"/>
            <a:fld id="{F0DE9851-A528-4D1B-93D7-C8701D62EAFE}" type="slidenum">
              <a:rPr lang="ru-RU" smtClean="0"/>
              <a:pPr lvl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875873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2ECC8E8-9821-41D0-BCCE-4853B082F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9" y="1677976"/>
            <a:ext cx="3874959" cy="2541097"/>
          </a:xfrm>
        </p:spPr>
        <p:txBody>
          <a:bodyPr anchor="b">
            <a:normAutofit/>
          </a:bodyPr>
          <a:lstStyle>
            <a:lvl1pPr algn="l">
              <a:defRPr sz="28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5EB178AC-9C34-4AFB-A290-FD1FDE705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9" y="4219073"/>
            <a:ext cx="3874959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F2D50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xmlns="" val="1514110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5D47D13-7135-44BA-BAB5-E6483BD7C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631" y="400673"/>
            <a:ext cx="7387937" cy="698270"/>
          </a:xfrm>
        </p:spPr>
        <p:txBody>
          <a:bodyPr>
            <a:normAutofit/>
          </a:bodyPr>
          <a:lstStyle>
            <a:lvl1pPr algn="ctr">
              <a:defRPr sz="2000" b="1">
                <a:solidFill>
                  <a:srgbClr val="0F2D50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790007FE-D229-422A-89A3-F3CA807D8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 marL="228594" indent="-228594">
              <a:buFontTx/>
              <a:buBlip>
                <a:blip r:embed="rId2"/>
              </a:buBlip>
              <a:defRPr sz="1600"/>
            </a:lvl1pPr>
            <a:lvl2pPr marL="685783" indent="-228594">
              <a:buFontTx/>
              <a:buBlip>
                <a:blip r:embed="rId2"/>
              </a:buBlip>
              <a:defRPr sz="1600"/>
            </a:lvl2pPr>
            <a:lvl3pPr marL="1142971" indent="-228594">
              <a:buFontTx/>
              <a:buBlip>
                <a:blip r:embed="rId2"/>
              </a:buBlip>
              <a:defRPr sz="1600"/>
            </a:lvl3pPr>
            <a:lvl4pPr marL="1600160" indent="-228594">
              <a:buFontTx/>
              <a:buBlip>
                <a:blip r:embed="rId2"/>
              </a:buBlip>
              <a:defRPr sz="1600"/>
            </a:lvl4pPr>
            <a:lvl5pPr marL="2057349" indent="-228594">
              <a:buFontTx/>
              <a:buBlip>
                <a:blip r:embed="rId2"/>
              </a:buBlip>
              <a:defRPr sz="16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84CD1BA2-E80C-40FC-A3F8-0F36C174F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 marL="228594" indent="-228594">
              <a:buFontTx/>
              <a:buBlip>
                <a:blip r:embed="rId2"/>
              </a:buBlip>
              <a:defRPr sz="1600"/>
            </a:lvl1pPr>
            <a:lvl2pPr marL="685783" indent="-228594">
              <a:buFontTx/>
              <a:buBlip>
                <a:blip r:embed="rId2"/>
              </a:buBlip>
              <a:defRPr sz="1600"/>
            </a:lvl2pPr>
            <a:lvl3pPr marL="1142971" indent="-228594">
              <a:buFontTx/>
              <a:buBlip>
                <a:blip r:embed="rId2"/>
              </a:buBlip>
              <a:defRPr sz="1600"/>
            </a:lvl3pPr>
            <a:lvl4pPr marL="1600160" indent="-228594">
              <a:buFontTx/>
              <a:buBlip>
                <a:blip r:embed="rId2"/>
              </a:buBlip>
              <a:defRPr sz="1600"/>
            </a:lvl4pPr>
            <a:lvl5pPr marL="2057349" indent="-228594">
              <a:buFontTx/>
              <a:buBlip>
                <a:blip r:embed="rId2"/>
              </a:buBlip>
              <a:defRPr sz="16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B2522EB-AF46-4198-A86F-5D8CC72CB59A}"/>
              </a:ext>
            </a:extLst>
          </p:cNvPr>
          <p:cNvSpPr txBox="1"/>
          <p:nvPr userDrawn="1"/>
        </p:nvSpPr>
        <p:spPr>
          <a:xfrm>
            <a:off x="8721568" y="6400384"/>
            <a:ext cx="212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0" name="Объект 15">
            <a:extLst>
              <a:ext uri="{FF2B5EF4-FFF2-40B4-BE49-F238E27FC236}">
                <a16:creationId xmlns:a16="http://schemas.microsoft.com/office/drawing/2014/main" xmlns="" id="{4F99481E-10B9-44D6-B315-CF72053A83A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721569" y="6410709"/>
            <a:ext cx="212119" cy="256415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5pPr marL="1828755" indent="0">
              <a:buNone/>
              <a:defRPr/>
            </a:lvl5pPr>
          </a:lstStyle>
          <a:p>
            <a:pPr lvl="0"/>
            <a:fld id="{F0DE9851-A528-4D1B-93D7-C8701D62EAFE}" type="slidenum">
              <a:rPr lang="ru-RU" smtClean="0"/>
              <a:pPr lvl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757261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A4AF582-D3B8-4757-826D-7EDC32087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631" y="384041"/>
            <a:ext cx="7387937" cy="714896"/>
          </a:xfrm>
        </p:spPr>
        <p:txBody>
          <a:bodyPr>
            <a:normAutofit/>
          </a:bodyPr>
          <a:lstStyle>
            <a:lvl1pPr algn="ctr">
              <a:defRPr sz="2000" b="1">
                <a:solidFill>
                  <a:srgbClr val="0F2D50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19C50284-0B70-4FF5-9D20-29F78D4A1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4CD34717-760A-4309-94AC-64A6E8DA4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 marL="228594" indent="-228594">
              <a:buFontTx/>
              <a:buBlip>
                <a:blip r:embed="rId2"/>
              </a:buBlip>
              <a:defRPr sz="1600"/>
            </a:lvl1pPr>
            <a:lvl2pPr marL="685783" indent="-228594">
              <a:buFontTx/>
              <a:buBlip>
                <a:blip r:embed="rId2"/>
              </a:buBlip>
              <a:defRPr sz="1600"/>
            </a:lvl2pPr>
            <a:lvl3pPr marL="1142971" indent="-228594">
              <a:buFontTx/>
              <a:buBlip>
                <a:blip r:embed="rId2"/>
              </a:buBlip>
              <a:defRPr sz="1600"/>
            </a:lvl3pPr>
            <a:lvl4pPr marL="1600160" indent="-228594">
              <a:buFontTx/>
              <a:buBlip>
                <a:blip r:embed="rId2"/>
              </a:buBlip>
              <a:defRPr sz="1600"/>
            </a:lvl4pPr>
            <a:lvl5pPr marL="2057349" indent="-228594">
              <a:buFontTx/>
              <a:buBlip>
                <a:blip r:embed="rId2"/>
              </a:buBlip>
              <a:defRPr sz="16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0EE8D619-99E3-40AC-A47D-774EF6A3DE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B57B0C1A-A856-4446-93F7-00A9721F3A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>
            <a:normAutofit/>
          </a:bodyPr>
          <a:lstStyle>
            <a:lvl1pPr marL="228594" indent="-228594">
              <a:buFontTx/>
              <a:buBlip>
                <a:blip r:embed="rId2"/>
              </a:buBlip>
              <a:defRPr sz="1600"/>
            </a:lvl1pPr>
            <a:lvl2pPr marL="685783" indent="-228594">
              <a:buFontTx/>
              <a:buBlip>
                <a:blip r:embed="rId2"/>
              </a:buBlip>
              <a:defRPr sz="1600"/>
            </a:lvl2pPr>
            <a:lvl3pPr marL="1142971" indent="-228594">
              <a:buFontTx/>
              <a:buBlip>
                <a:blip r:embed="rId2"/>
              </a:buBlip>
              <a:defRPr sz="1600"/>
            </a:lvl3pPr>
            <a:lvl4pPr marL="1600160" indent="-228594">
              <a:buFontTx/>
              <a:buBlip>
                <a:blip r:embed="rId2"/>
              </a:buBlip>
              <a:defRPr sz="1600"/>
            </a:lvl4pPr>
            <a:lvl5pPr marL="2057349" indent="-228594">
              <a:buFontTx/>
              <a:buBlip>
                <a:blip r:embed="rId2"/>
              </a:buBlip>
              <a:defRPr sz="16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8464A14-0FDB-486C-B714-EE67A867B08C}"/>
              </a:ext>
            </a:extLst>
          </p:cNvPr>
          <p:cNvSpPr txBox="1"/>
          <p:nvPr userDrawn="1"/>
        </p:nvSpPr>
        <p:spPr>
          <a:xfrm>
            <a:off x="8721568" y="6400384"/>
            <a:ext cx="212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2" name="Объект 15">
            <a:extLst>
              <a:ext uri="{FF2B5EF4-FFF2-40B4-BE49-F238E27FC236}">
                <a16:creationId xmlns:a16="http://schemas.microsoft.com/office/drawing/2014/main" xmlns="" id="{FCB3C866-1147-4FD1-A451-489BC59D06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721569" y="6410709"/>
            <a:ext cx="212119" cy="256415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5pPr marL="1828755" indent="0">
              <a:buNone/>
              <a:defRPr/>
            </a:lvl5pPr>
          </a:lstStyle>
          <a:p>
            <a:pPr lvl="0"/>
            <a:fld id="{463362A3-69D1-4D45-84F1-AD89012AE979}" type="slidenum">
              <a:rPr lang="ru-RU" smtClean="0"/>
              <a:pPr lvl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759454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A600A57-6B5E-4D57-81A9-7A6C7B74C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102" y="418135"/>
            <a:ext cx="7375466" cy="689957"/>
          </a:xfrm>
        </p:spPr>
        <p:txBody>
          <a:bodyPr>
            <a:normAutofit/>
          </a:bodyPr>
          <a:lstStyle>
            <a:lvl1pPr algn="ct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6E0672-7DF8-4C4F-87CB-14D9B8D053AB}"/>
              </a:ext>
            </a:extLst>
          </p:cNvPr>
          <p:cNvSpPr txBox="1"/>
          <p:nvPr userDrawn="1"/>
        </p:nvSpPr>
        <p:spPr>
          <a:xfrm>
            <a:off x="8721568" y="6400384"/>
            <a:ext cx="212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8" name="Объект 15">
            <a:extLst>
              <a:ext uri="{FF2B5EF4-FFF2-40B4-BE49-F238E27FC236}">
                <a16:creationId xmlns:a16="http://schemas.microsoft.com/office/drawing/2014/main" xmlns="" id="{5C95B81F-1D6D-4356-A6EA-2933EF05A7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721569" y="6410709"/>
            <a:ext cx="212119" cy="256415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5pPr marL="1828755" indent="0">
              <a:buNone/>
              <a:defRPr/>
            </a:lvl5pPr>
          </a:lstStyle>
          <a:p>
            <a:pPr lvl="0"/>
            <a:fld id="{689B53FD-FA26-4C93-83E8-ED6CCBC7B4D8}" type="slidenum">
              <a:rPr lang="ru-RU" smtClean="0"/>
              <a:pPr lvl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092934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ркированный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A600A57-6B5E-4D57-81A9-7A6C7B74C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6102" y="418135"/>
            <a:ext cx="7375466" cy="689957"/>
          </a:xfrm>
        </p:spPr>
        <p:txBody>
          <a:bodyPr>
            <a:normAutofit/>
          </a:bodyPr>
          <a:lstStyle>
            <a:lvl1pPr algn="ct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6E0672-7DF8-4C4F-87CB-14D9B8D053AB}"/>
              </a:ext>
            </a:extLst>
          </p:cNvPr>
          <p:cNvSpPr txBox="1"/>
          <p:nvPr userDrawn="1"/>
        </p:nvSpPr>
        <p:spPr>
          <a:xfrm>
            <a:off x="8721568" y="6400384"/>
            <a:ext cx="212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8" name="Объект 15">
            <a:extLst>
              <a:ext uri="{FF2B5EF4-FFF2-40B4-BE49-F238E27FC236}">
                <a16:creationId xmlns:a16="http://schemas.microsoft.com/office/drawing/2014/main" xmlns="" id="{5C95B81F-1D6D-4356-A6EA-2933EF05A7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721569" y="6410709"/>
            <a:ext cx="212119" cy="256415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5pPr marL="1828755" indent="0">
              <a:buNone/>
              <a:defRPr/>
            </a:lvl5pPr>
          </a:lstStyle>
          <a:p>
            <a:pPr lvl="0"/>
            <a:fld id="{58385115-7DC6-463B-B006-A1378F66635E}" type="slidenum">
              <a:rPr lang="ru-RU" smtClean="0"/>
              <a:pPr lvl="0"/>
              <a:t>‹#›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7416FC2F-6BD7-4D50-9C34-3A8A5CBF38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1031" y="1729103"/>
            <a:ext cx="7881938" cy="44529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ru-RU" dirty="0"/>
              <a:t>Маркированный список</a:t>
            </a:r>
          </a:p>
        </p:txBody>
      </p:sp>
    </p:spTree>
    <p:extLst>
      <p:ext uri="{BB962C8B-B14F-4D97-AF65-F5344CB8AC3E}">
        <p14:creationId xmlns:p14="http://schemas.microsoft.com/office/powerpoint/2010/main" xmlns="" val="4183766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сновно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A600A57-6B5E-4D57-81A9-7A6C7B74C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6102" y="418135"/>
            <a:ext cx="7375466" cy="689957"/>
          </a:xfrm>
        </p:spPr>
        <p:txBody>
          <a:bodyPr>
            <a:normAutofit/>
          </a:bodyPr>
          <a:lstStyle>
            <a:lvl1pPr algn="ct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6E0672-7DF8-4C4F-87CB-14D9B8D053AB}"/>
              </a:ext>
            </a:extLst>
          </p:cNvPr>
          <p:cNvSpPr txBox="1"/>
          <p:nvPr userDrawn="1"/>
        </p:nvSpPr>
        <p:spPr>
          <a:xfrm>
            <a:off x="8721568" y="6400384"/>
            <a:ext cx="212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8" name="Объект 15">
            <a:extLst>
              <a:ext uri="{FF2B5EF4-FFF2-40B4-BE49-F238E27FC236}">
                <a16:creationId xmlns:a16="http://schemas.microsoft.com/office/drawing/2014/main" xmlns="" id="{5C95B81F-1D6D-4356-A6EA-2933EF05A7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721569" y="6410709"/>
            <a:ext cx="212119" cy="256415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5pPr marL="1828755" indent="0">
              <a:buNone/>
              <a:defRPr/>
            </a:lvl5pPr>
          </a:lstStyle>
          <a:p>
            <a:pPr lvl="0"/>
            <a:fld id="{689B53FD-FA26-4C93-83E8-ED6CCBC7B4D8}" type="slidenum">
              <a:rPr lang="ru-RU" smtClean="0"/>
              <a:pPr lvl="0"/>
              <a:t>‹#›</a:t>
            </a:fld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xmlns="" id="{D7E97AFA-3DB6-4965-859D-656D8DE18B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38150"/>
            <a:ext cx="7886700" cy="446148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189" indent="0">
              <a:buFontTx/>
              <a:buNone/>
              <a:defRPr sz="1600"/>
            </a:lvl2pPr>
            <a:lvl3pPr marL="914377" indent="0">
              <a:buFontTx/>
              <a:buNone/>
              <a:defRPr sz="1600"/>
            </a:lvl3pPr>
            <a:lvl4pPr marL="1371566" indent="0">
              <a:buFontTx/>
              <a:buNone/>
              <a:defRPr sz="1600"/>
            </a:lvl4pPr>
            <a:lvl5pPr marL="1828755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Основной текст</a:t>
            </a:r>
          </a:p>
        </p:txBody>
      </p:sp>
    </p:spTree>
    <p:extLst>
      <p:ext uri="{BB962C8B-B14F-4D97-AF65-F5344CB8AC3E}">
        <p14:creationId xmlns:p14="http://schemas.microsoft.com/office/powerpoint/2010/main" xmlns="" val="1283983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слай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A600A57-6B5E-4D57-81A9-7A6C7B74C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6102" y="418135"/>
            <a:ext cx="7375466" cy="689957"/>
          </a:xfrm>
        </p:spPr>
        <p:txBody>
          <a:bodyPr>
            <a:normAutofit/>
          </a:bodyPr>
          <a:lstStyle>
            <a:lvl1pPr algn="ct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ru-RU" dirty="0" smtClean="0"/>
              <a:t>Нумерованный список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56E0672-7DF8-4C4F-87CB-14D9B8D053AB}"/>
              </a:ext>
            </a:extLst>
          </p:cNvPr>
          <p:cNvSpPr txBox="1"/>
          <p:nvPr userDrawn="1"/>
        </p:nvSpPr>
        <p:spPr>
          <a:xfrm>
            <a:off x="8721568" y="6400384"/>
            <a:ext cx="212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8" name="Объект 15">
            <a:extLst>
              <a:ext uri="{FF2B5EF4-FFF2-40B4-BE49-F238E27FC236}">
                <a16:creationId xmlns:a16="http://schemas.microsoft.com/office/drawing/2014/main" xmlns="" id="{5C95B81F-1D6D-4356-A6EA-2933EF05A7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721569" y="6410709"/>
            <a:ext cx="212119" cy="256415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5pPr marL="1828755" indent="0">
              <a:buNone/>
              <a:defRPr/>
            </a:lvl5pPr>
          </a:lstStyle>
          <a:p>
            <a:pPr lvl="0"/>
            <a:fld id="{D236AAFF-C010-4E87-AF73-26AB5ACA8908}" type="slidenum">
              <a:rPr lang="ru-RU" smtClean="0"/>
              <a:pPr lvl="0"/>
              <a:t>‹#›</a:t>
            </a:fld>
            <a:fld id="{689B53FD-FA26-4C93-83E8-ED6CCBC7B4D8}" type="slidenum">
              <a:rPr lang="ru-RU" smtClean="0"/>
              <a:pPr lvl="0"/>
              <a:t>‹#›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2B055EF0-E5A6-4040-8661-95BC60E912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728216"/>
            <a:ext cx="7886700" cy="4462272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600"/>
            </a:lvl1pPr>
            <a:lvl2pPr marL="800089" indent="-342900">
              <a:buFont typeface="+mj-lt"/>
              <a:buAutoNum type="arabicPeriod"/>
              <a:defRPr sz="1600"/>
            </a:lvl2pPr>
            <a:lvl3pPr marL="1257277" indent="-342900">
              <a:buFont typeface="+mj-lt"/>
              <a:buAutoNum type="arabicPeriod"/>
              <a:defRPr sz="1600"/>
            </a:lvl3pPr>
            <a:lvl4pPr marL="1714466" indent="-342900">
              <a:buFont typeface="+mj-lt"/>
              <a:buAutoNum type="arabicPeriod"/>
              <a:defRPr sz="1600"/>
            </a:lvl4pPr>
            <a:lvl5pPr marL="2171655" indent="-342900">
              <a:buFont typeface="+mj-lt"/>
              <a:buAutoNum type="arabicPeriod"/>
              <a:defRPr sz="1600"/>
            </a:lvl5pPr>
          </a:lstStyle>
          <a:p>
            <a:pPr lvl="0"/>
            <a:r>
              <a:rPr lang="ru-RU" dirty="0"/>
              <a:t>Нумерованный список</a:t>
            </a:r>
          </a:p>
        </p:txBody>
      </p:sp>
    </p:spTree>
    <p:extLst>
      <p:ext uri="{BB962C8B-B14F-4D97-AF65-F5344CB8AC3E}">
        <p14:creationId xmlns:p14="http://schemas.microsoft.com/office/powerpoint/2010/main" xmlns="" val="2601369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Благодарю за внимание!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973741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06F9E77-78F0-46E3-B3F5-F3546922CD76}"/>
              </a:ext>
            </a:extLst>
          </p:cNvPr>
          <p:cNvSpPr txBox="1"/>
          <p:nvPr userDrawn="1"/>
        </p:nvSpPr>
        <p:spPr>
          <a:xfrm>
            <a:off x="8721568" y="6400384"/>
            <a:ext cx="212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8" name="Объект 15">
            <a:extLst>
              <a:ext uri="{FF2B5EF4-FFF2-40B4-BE49-F238E27FC236}">
                <a16:creationId xmlns:a16="http://schemas.microsoft.com/office/drawing/2014/main" xmlns="" id="{AA85533D-A768-4279-9FEA-CAF2E62E68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721569" y="6410709"/>
            <a:ext cx="212119" cy="256415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5pPr marL="1828755" indent="0">
              <a:buNone/>
              <a:defRPr/>
            </a:lvl5pPr>
          </a:lstStyle>
          <a:p>
            <a:pPr lvl="0"/>
            <a:fld id="{DD51BD95-39E1-4BFC-B34D-236788599FCB}" type="slidenum">
              <a:rPr lang="ru-RU" smtClean="0"/>
              <a:pPr lvl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8957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B753521A-2A33-4D8B-9809-3D717415D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6200" y="1499616"/>
            <a:ext cx="4629150" cy="4461014"/>
          </a:xfrm>
        </p:spPr>
        <p:txBody>
          <a:bodyPr>
            <a:normAutofit/>
          </a:bodyPr>
          <a:lstStyle>
            <a:lvl1pPr marL="228594" indent="-228594">
              <a:buFontTx/>
              <a:buBlip>
                <a:blip r:embed="rId2"/>
              </a:buBlip>
              <a:defRPr sz="1600"/>
            </a:lvl1pPr>
            <a:lvl2pPr marL="685783" indent="-228594">
              <a:buFontTx/>
              <a:buBlip>
                <a:blip r:embed="rId2"/>
              </a:buBlip>
              <a:defRPr sz="1600"/>
            </a:lvl2pPr>
            <a:lvl3pPr marL="1142971" indent="-228594">
              <a:buFontTx/>
              <a:buBlip>
                <a:blip r:embed="rId2"/>
              </a:buBlip>
              <a:defRPr sz="1600"/>
            </a:lvl3pPr>
            <a:lvl4pPr marL="1600160" indent="-228594">
              <a:buFontTx/>
              <a:buBlip>
                <a:blip r:embed="rId2"/>
              </a:buBlip>
              <a:defRPr sz="1600"/>
            </a:lvl4pPr>
            <a:lvl5pPr marL="2057349" indent="-228594">
              <a:buFontTx/>
              <a:buBlip>
                <a:blip r:embed="rId2"/>
              </a:buBlip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FBD05B-14C9-4A86-B980-C916828B1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8650" y="1499616"/>
            <a:ext cx="2949178" cy="4461014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Объект 15">
            <a:extLst>
              <a:ext uri="{FF2B5EF4-FFF2-40B4-BE49-F238E27FC236}">
                <a16:creationId xmlns:a16="http://schemas.microsoft.com/office/drawing/2014/main" xmlns="" id="{DEB7A124-6645-40A5-9D41-3D66E941686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721568" y="6394554"/>
            <a:ext cx="212119" cy="256415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5pPr marL="1828755" indent="0">
              <a:buNone/>
              <a:defRPr/>
            </a:lvl5pPr>
          </a:lstStyle>
          <a:p>
            <a:pPr lvl="0"/>
            <a:fld id="{8E6E218D-CC68-4CC7-A449-B8934A53BCF1}" type="slidenum">
              <a:rPr lang="ru-RU" smtClean="0"/>
              <a:pPr lvl="0"/>
              <a:t>‹#›</a:t>
            </a:fld>
            <a:endParaRPr lang="ru-RU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xmlns="" id="{45A2B01C-F6FB-4A3B-8AAF-288D4A29C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397" y="399438"/>
            <a:ext cx="7394171" cy="698269"/>
          </a:xfrm>
        </p:spPr>
        <p:txBody>
          <a:bodyPr>
            <a:normAutofit/>
          </a:bodyPr>
          <a:lstStyle>
            <a:lvl1pPr algn="ctr">
              <a:defRPr sz="2000" b="1">
                <a:solidFill>
                  <a:srgbClr val="0F2D50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909119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C38C4EFE-F01F-4357-A606-46F2C7220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9584" y="0"/>
            <a:ext cx="4244419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1D99907-8FD0-4DCB-B874-C785F7A2A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983" y="0"/>
            <a:ext cx="3615769" cy="1114957"/>
          </a:xfrm>
        </p:spPr>
        <p:txBody>
          <a:bodyPr anchor="b">
            <a:normAutofit/>
          </a:bodyPr>
          <a:lstStyle>
            <a:lvl1pPr algn="l">
              <a:defRPr sz="2000" b="1">
                <a:solidFill>
                  <a:srgbClr val="0F2D50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5B6618F6-1F29-4614-8F00-20C47947A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7519" y="1739698"/>
            <a:ext cx="3615770" cy="381158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Объект 15">
            <a:extLst>
              <a:ext uri="{FF2B5EF4-FFF2-40B4-BE49-F238E27FC236}">
                <a16:creationId xmlns:a16="http://schemas.microsoft.com/office/drawing/2014/main" xmlns="" id="{22C5C86E-DCAA-487C-ACC3-ADC95F43D3D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712424" y="6403698"/>
            <a:ext cx="212119" cy="256415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5pPr marL="1828755" indent="0">
              <a:buNone/>
              <a:defRPr/>
            </a:lvl5pPr>
          </a:lstStyle>
          <a:p>
            <a:pPr lvl="0"/>
            <a:fld id="{8E6E218D-CC68-4CC7-A449-B8934A53BCF1}" type="slidenum">
              <a:rPr lang="ru-RU" smtClean="0"/>
              <a:pPr lvl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316213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F7B3524-6C12-44DE-83DA-B32012C19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397" y="399438"/>
            <a:ext cx="7394171" cy="698269"/>
          </a:xfrm>
        </p:spPr>
        <p:txBody>
          <a:bodyPr>
            <a:normAutofit/>
          </a:bodyPr>
          <a:lstStyle>
            <a:lvl1pPr algn="ctr">
              <a:defRPr sz="2000" b="1">
                <a:solidFill>
                  <a:srgbClr val="0F2D50"/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22AE855F-7FDD-4EAC-BEE7-B669F73FA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 marL="228594" indent="-228594">
              <a:buFontTx/>
              <a:buBlip>
                <a:blip r:embed="rId2"/>
              </a:buBlip>
              <a:defRPr sz="1600"/>
            </a:lvl1pPr>
            <a:lvl2pPr marL="685783" indent="-228594">
              <a:buFontTx/>
              <a:buBlip>
                <a:blip r:embed="rId2"/>
              </a:buBlip>
              <a:defRPr sz="1600"/>
            </a:lvl2pPr>
            <a:lvl3pPr marL="1142971" indent="-228594">
              <a:buFontTx/>
              <a:buBlip>
                <a:blip r:embed="rId2"/>
              </a:buBlip>
              <a:defRPr sz="1600"/>
            </a:lvl3pPr>
            <a:lvl4pPr marL="1600160" indent="-228594">
              <a:buFontTx/>
              <a:buBlip>
                <a:blip r:embed="rId2"/>
              </a:buBlip>
              <a:defRPr sz="1600"/>
            </a:lvl4pPr>
            <a:lvl5pPr marL="2057349" indent="-228594">
              <a:buFontTx/>
              <a:buBlip>
                <a:blip r:embed="rId2"/>
              </a:buBlip>
              <a:defRPr sz="16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5E1A092-4E71-43C5-B64F-AE7ED500A624}"/>
              </a:ext>
            </a:extLst>
          </p:cNvPr>
          <p:cNvSpPr txBox="1"/>
          <p:nvPr userDrawn="1"/>
        </p:nvSpPr>
        <p:spPr>
          <a:xfrm>
            <a:off x="8721568" y="6400384"/>
            <a:ext cx="212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0" name="Объект 15">
            <a:extLst>
              <a:ext uri="{FF2B5EF4-FFF2-40B4-BE49-F238E27FC236}">
                <a16:creationId xmlns:a16="http://schemas.microsoft.com/office/drawing/2014/main" xmlns="" id="{48C486F4-F7D4-4E9A-B31B-ADC844327E7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721569" y="6400384"/>
            <a:ext cx="212119" cy="256415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5pPr marL="1828755" indent="0">
              <a:buNone/>
              <a:defRPr/>
            </a:lvl5pPr>
          </a:lstStyle>
          <a:p>
            <a:pPr lvl="0"/>
            <a:fld id="{F0EEB65F-4808-4784-AF9C-712D380CC428}" type="slidenum">
              <a:rPr lang="ru-RU" smtClean="0"/>
              <a:pPr lvl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726745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AAD08A1E-C3C0-400F-AE65-B1C6669C8D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1180407"/>
            <a:ext cx="1971675" cy="5087996"/>
          </a:xfrm>
        </p:spPr>
        <p:txBody>
          <a:bodyPr vert="eaVert"/>
          <a:lstStyle>
            <a:lvl1pPr>
              <a:defRPr b="1">
                <a:solidFill>
                  <a:srgbClr val="0F2D50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51F222B2-C993-4661-B010-9778310F7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2" y="1180412"/>
            <a:ext cx="5800725" cy="5087995"/>
          </a:xfrm>
        </p:spPr>
        <p:txBody>
          <a:bodyPr vert="eaVert">
            <a:normAutofit/>
          </a:bodyPr>
          <a:lstStyle>
            <a:lvl1pPr marL="228594" indent="-228594">
              <a:buFontTx/>
              <a:buBlip>
                <a:blip r:embed="rId2"/>
              </a:buBlip>
              <a:defRPr sz="1600"/>
            </a:lvl1pPr>
            <a:lvl2pPr marL="685783" indent="-228594">
              <a:buFontTx/>
              <a:buBlip>
                <a:blip r:embed="rId2"/>
              </a:buBlip>
              <a:defRPr sz="1600"/>
            </a:lvl2pPr>
            <a:lvl3pPr marL="1142971" indent="-228594">
              <a:buFontTx/>
              <a:buBlip>
                <a:blip r:embed="rId2"/>
              </a:buBlip>
              <a:defRPr sz="1600"/>
            </a:lvl3pPr>
            <a:lvl4pPr marL="1600160" indent="-228594">
              <a:buFontTx/>
              <a:buBlip>
                <a:blip r:embed="rId2"/>
              </a:buBlip>
              <a:defRPr sz="1600"/>
            </a:lvl4pPr>
            <a:lvl5pPr marL="2057349" indent="-228594">
              <a:buFontTx/>
              <a:buBlip>
                <a:blip r:embed="rId2"/>
              </a:buBlip>
              <a:defRPr sz="16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9" name="Объект 15">
            <a:extLst>
              <a:ext uri="{FF2B5EF4-FFF2-40B4-BE49-F238E27FC236}">
                <a16:creationId xmlns:a16="http://schemas.microsoft.com/office/drawing/2014/main" xmlns="" id="{B7E42F2C-C160-496B-8EB9-81ABA6A403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721569" y="6410709"/>
            <a:ext cx="212119" cy="256415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5pPr marL="1828755" indent="0">
              <a:buNone/>
              <a:defRPr/>
            </a:lvl5pPr>
          </a:lstStyle>
          <a:p>
            <a:pPr lvl="0"/>
            <a:fld id="{4D2FEDFB-663D-4766-8C44-2D43E6539080}" type="slidenum">
              <a:rPr lang="ru-RU" smtClean="0"/>
              <a:pPr lvl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417963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2BB5CEA-45F2-4EC8-A3F2-C4F6EA05D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038" y="383408"/>
            <a:ext cx="7350530" cy="7238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24EBDA82-E733-4740-9CA4-6CC1B723B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1C1F912-1732-4379-A72E-115BCC3F5F2A}"/>
              </a:ext>
            </a:extLst>
          </p:cNvPr>
          <p:cNvSpPr txBox="1"/>
          <p:nvPr/>
        </p:nvSpPr>
        <p:spPr>
          <a:xfrm>
            <a:off x="8721568" y="6400384"/>
            <a:ext cx="212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052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64" r:id="rId7"/>
    <p:sldLayoutId id="2147483666" r:id="rId8"/>
    <p:sldLayoutId id="2147483665" r:id="rId9"/>
    <p:sldLayoutId id="2147483663" r:id="rId10"/>
    <p:sldLayoutId id="2147483661" r:id="rId11"/>
    <p:sldLayoutId id="2147483656" r:id="rId12"/>
    <p:sldLayoutId id="2147483657" r:id="rId13"/>
    <p:sldLayoutId id="2147483658" r:id="rId14"/>
    <p:sldLayoutId id="2147483659" r:id="rId15"/>
  </p:sldLayoutIdLst>
  <p:hf hdr="0" ftr="0" dt="0"/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Tx/>
        <a:buBlip>
          <a:blip r:embed="rId18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Tx/>
        <a:buBlip>
          <a:blip r:embed="rId18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Tx/>
        <a:buBlip>
          <a:blip r:embed="rId18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Tx/>
        <a:buBlip>
          <a:blip r:embed="rId18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Tx/>
        <a:buBlip>
          <a:blip r:embed="rId18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isk.yandex.ru/d/Bm2jpggWrQgZyw" TargetMode="Externa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0" dirty="0" smtClean="0">
                <a:latin typeface="Times New Roman" pitchFamily="18" charset="0"/>
                <a:cs typeface="Times New Roman" pitchFamily="18" charset="0"/>
              </a:rPr>
              <a:t>Калькулятор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0" dirty="0" smtClean="0"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b="0" dirty="0" err="1" smtClean="0">
                <a:latin typeface="Times New Roman" pitchFamily="18" charset="0"/>
                <a:cs typeface="Times New Roman" pitchFamily="18" charset="0"/>
              </a:rPr>
              <a:t>Акселион</a:t>
            </a:r>
            <a:r>
              <a:rPr lang="ru-RU" b="0" dirty="0" smtClean="0">
                <a:latin typeface="Times New Roman" pitchFamily="18" charset="0"/>
                <a:cs typeface="Times New Roman" pitchFamily="18" charset="0"/>
              </a:rPr>
              <a:t>» </a:t>
            </a:r>
            <a:r>
              <a:rPr lang="ru-RU" b="0" dirty="0" smtClean="0">
                <a:latin typeface="Times New Roman" pitchFamily="18" charset="0"/>
                <a:cs typeface="Times New Roman" pitchFamily="18" charset="0"/>
              </a:rPr>
              <a:t>с историей </a:t>
            </a:r>
            <a:r>
              <a:rPr lang="ru-RU" b="0" dirty="0" smtClean="0">
                <a:latin typeface="Times New Roman" pitchFamily="18" charset="0"/>
                <a:cs typeface="Times New Roman" pitchFamily="18" charset="0"/>
              </a:rPr>
              <a:t>вычислений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0" dirty="0" smtClean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17B057B9-E479-484C-AE46-0E5DFB3430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Котелева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Олеся Андреевна, </a:t>
            </a:r>
            <a:r>
              <a:rPr lang="ru-RU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Кофанова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Яна Александровна, Тимофеев Андрей Игоревич</a:t>
            </a:r>
            <a:endParaRPr lang="ru-RU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руппа: БИЗ-Б-0-Д-2025-1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96B1BFF4-40F0-411D-B7AE-23FBB38155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 smtClean="0"/>
              <a:t>Москва </a:t>
            </a:r>
            <a:r>
              <a:rPr lang="ru-RU" dirty="0" smtClean="0"/>
              <a:t>202</a:t>
            </a:r>
            <a:r>
              <a:rPr lang="en-US" dirty="0" smtClean="0"/>
              <a:t>5</a:t>
            </a:r>
            <a:endParaRPr lang="ru-RU" dirty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6ADD1FF8-4C1A-4CC3-9705-D8BF8BDF3F00}"/>
              </a:ext>
            </a:extLst>
          </p:cNvPr>
          <p:cNvCxnSpPr>
            <a:cxnSpLocks/>
          </p:cNvCxnSpPr>
          <p:nvPr/>
        </p:nvCxnSpPr>
        <p:spPr>
          <a:xfrm flipV="1">
            <a:off x="533814" y="5315852"/>
            <a:ext cx="8076369" cy="1"/>
          </a:xfrm>
          <a:prstGeom prst="line">
            <a:avLst/>
          </a:prstGeom>
          <a:ln w="63500">
            <a:solidFill>
              <a:srgbClr val="007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740366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 мы хотели достичь?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228DEBD-125D-4BD9-B3A5-6A1C9CE66B4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fld id="{9F9F5293-8EC4-4E33-8F5C-6B03F8FA98C6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Цели: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Освоить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командной работе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Создать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работающее приложение на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Получить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опыт разработки ПО от идеи до реализации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Научиться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документировать проект и представлять результаты</a:t>
            </a:r>
          </a:p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Задачи проекта: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Разработать калькулятор с базовыми операциями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Реализовать сохранение истории вычислений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Настроить совместную работу через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Создать техническую документацию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Подготовить презентацию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видеовизитку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56967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Как устроен наш проект?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C3A8C2F0-21E2-4C6B-A8A3-8AD28DCEB26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fld id="{4D13A162-3570-4E9B-A1C0-285EA7CD7E7F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4"/>
          </p:nvPr>
        </p:nvSpPr>
        <p:spPr>
          <a:xfrm>
            <a:off x="5199795" y="1815153"/>
            <a:ext cx="4816807" cy="4128448"/>
          </a:xfrm>
        </p:spPr>
        <p:txBody>
          <a:bodyPr>
            <a:norm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Технический стек: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Язык: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3.x</a:t>
            </a:r>
          </a:p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Система контроля версий: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Хостинг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кода: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Среда разработки: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VS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Code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Документация: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Markdown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307" y="1856095"/>
            <a:ext cx="4678050" cy="3889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176803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Кто за что отвечал?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idx="1"/>
          </p:nvPr>
        </p:nvGraphicFramePr>
        <p:xfrm>
          <a:off x="710537" y="1361223"/>
          <a:ext cx="7886700" cy="4657061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628900"/>
                <a:gridCol w="2628900"/>
                <a:gridCol w="2628900"/>
              </a:tblGrid>
              <a:tr h="536157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latin typeface="Times New Roman" pitchFamily="18" charset="0"/>
                          <a:cs typeface="Times New Roman" pitchFamily="18" charset="0"/>
                        </a:rPr>
                        <a:t>Участник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latin typeface="Times New Roman" pitchFamily="18" charset="0"/>
                          <a:cs typeface="Times New Roman" pitchFamily="18" charset="0"/>
                        </a:rPr>
                        <a:t>Роль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latin typeface="Times New Roman" pitchFamily="18" charset="0"/>
                          <a:cs typeface="Times New Roman" pitchFamily="18" charset="0"/>
                        </a:rPr>
                        <a:t>Обязанности</a:t>
                      </a:r>
                    </a:p>
                  </a:txBody>
                  <a:tcPr marL="152400" marR="152400" marT="95250" marB="95250" anchor="ctr"/>
                </a:tc>
              </a:tr>
              <a:tr h="1297673">
                <a:tc>
                  <a:txBody>
                    <a:bodyPr/>
                    <a:lstStyle/>
                    <a:p>
                      <a:r>
                        <a:rPr lang="ru-RU" sz="1600" b="1">
                          <a:latin typeface="Times New Roman" pitchFamily="18" charset="0"/>
                          <a:cs typeface="Times New Roman" pitchFamily="18" charset="0"/>
                        </a:rPr>
                        <a:t>Андрей</a:t>
                      </a:r>
                      <a:endParaRPr lang="ru-RU" sz="1600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  <a:t>Командир, разработчик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  <a:t>- Написание кода</a:t>
                      </a:r>
                      <a:b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  <a:t>- Архитектура проекта</a:t>
                      </a:r>
                      <a:b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  <a:t>- Code Review</a:t>
                      </a:r>
                      <a:b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  <a:t>- Технические решения</a:t>
                      </a:r>
                    </a:p>
                  </a:txBody>
                  <a:tcPr marL="152400" marT="95250" marB="95250" anchor="ctr"/>
                </a:tc>
              </a:tr>
              <a:tr h="1297673">
                <a:tc>
                  <a:txBody>
                    <a:bodyPr/>
                    <a:lstStyle/>
                    <a:p>
                      <a:r>
                        <a:rPr lang="ru-RU" sz="1600" b="1">
                          <a:latin typeface="Times New Roman" pitchFamily="18" charset="0"/>
                          <a:cs typeface="Times New Roman" pitchFamily="18" charset="0"/>
                        </a:rPr>
                        <a:t>Яна</a:t>
                      </a:r>
                      <a:endParaRPr lang="ru-RU" sz="1600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  <a:t>Видео-монтажёр, дизайнер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  <a:t>- Создание видеовизитки</a:t>
                      </a:r>
                      <a:b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  <a:t>- Дизайн презентации</a:t>
                      </a:r>
                      <a:b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  <a:t>- Помощь с документацией</a:t>
                      </a:r>
                    </a:p>
                  </a:txBody>
                  <a:tcPr marL="152400" marT="95250" marB="95250" anchor="ctr"/>
                </a:tc>
              </a:tr>
              <a:tr h="1525558">
                <a:tc>
                  <a:txBody>
                    <a:bodyPr/>
                    <a:lstStyle/>
                    <a:p>
                      <a:r>
                        <a:rPr lang="ru-RU" sz="1600" b="1">
                          <a:latin typeface="Times New Roman" pitchFamily="18" charset="0"/>
                          <a:cs typeface="Times New Roman" pitchFamily="18" charset="0"/>
                        </a:rPr>
                        <a:t>Олеся</a:t>
                      </a:r>
                      <a:endParaRPr lang="ru-RU" sz="1600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latin typeface="Times New Roman" pitchFamily="18" charset="0"/>
                          <a:cs typeface="Times New Roman" pitchFamily="18" charset="0"/>
                        </a:rPr>
                        <a:t>Презентация, документация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latin typeface="Times New Roman" pitchFamily="18" charset="0"/>
                          <a:cs typeface="Times New Roman" pitchFamily="18" charset="0"/>
                        </a:rPr>
                        <a:t>- Подготовка презентации</a:t>
                      </a:r>
                      <a:br>
                        <a:rPr lang="ru-RU" sz="1600" b="0" dirty="0"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ru-RU" sz="1600" b="0" dirty="0">
                          <a:latin typeface="Times New Roman" pitchFamily="18" charset="0"/>
                          <a:cs typeface="Times New Roman" pitchFamily="18" charset="0"/>
                        </a:rPr>
                        <a:t>- Ведение документации</a:t>
                      </a:r>
                      <a:br>
                        <a:rPr lang="ru-RU" sz="1600" b="0" dirty="0"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ru-RU" sz="1600" b="0" dirty="0">
                          <a:latin typeface="Times New Roman" pitchFamily="18" charset="0"/>
                          <a:cs typeface="Times New Roman" pitchFamily="18" charset="0"/>
                        </a:rPr>
                        <a:t>- Организация процесса</a:t>
                      </a:r>
                    </a:p>
                  </a:txBody>
                  <a:tcPr marL="152400" marT="95250" marB="95250" anchor="ctr"/>
                </a:tc>
              </a:tr>
            </a:tbl>
          </a:graphicData>
        </a:graphic>
      </p:graphicFrame>
      <p:sp>
        <p:nvSpPr>
          <p:cNvPr id="4" name="Содержимое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34620" y="6211669"/>
            <a:ext cx="631208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Ключевой принцип: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Коллективное принятие решений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 smtClean="0">
                <a:latin typeface="Times New Roman" pitchFamily="18" charset="0"/>
                <a:cs typeface="Times New Roman" pitchFamily="18" charset="0"/>
              </a:rPr>
              <a:t>Чем мы пользовались?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Раздел 1: Разработка</a:t>
            </a:r>
            <a:endParaRPr lang="ru-RU" sz="17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Python 3.10</a:t>
            </a:r>
          </a:p>
          <a:p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VS Code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с расширениями (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GitLens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, Python, Prettier)</a:t>
            </a:r>
          </a:p>
          <a:p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endParaRPr lang="en-US" sz="17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Раздел 2: Документация</a:t>
            </a:r>
            <a:endParaRPr lang="ru-RU" sz="17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Markdown (README.md,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документация)</a:t>
            </a:r>
          </a:p>
          <a:p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Issues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Projects</a:t>
            </a:r>
          </a:p>
          <a:p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Mermaid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для диаграмм</a:t>
            </a:r>
          </a:p>
          <a:p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Раздел 3: Мультимедиа</a:t>
            </a:r>
            <a:endParaRPr lang="ru-RU" sz="17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OBS Studio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для записи экрана</a:t>
            </a:r>
          </a:p>
          <a:p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Canva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для дизайна</a:t>
            </a:r>
          </a:p>
          <a:p>
            <a:r>
              <a:rPr lang="en-US" sz="1700" dirty="0" err="1" smtClean="0">
                <a:latin typeface="Times New Roman" pitchFamily="18" charset="0"/>
                <a:cs typeface="Times New Roman" pitchFamily="18" charset="0"/>
              </a:rPr>
              <a:t>OpenShot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для монтажа видео</a:t>
            </a:r>
          </a:p>
          <a:p>
            <a:r>
              <a:rPr lang="ru-RU" sz="1700" b="1" dirty="0" smtClean="0">
                <a:latin typeface="Times New Roman" pitchFamily="18" charset="0"/>
                <a:cs typeface="Times New Roman" pitchFamily="18" charset="0"/>
              </a:rPr>
              <a:t>Раздел 4: Коммуникация</a:t>
            </a:r>
            <a:endParaRPr lang="ru-RU" sz="17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Telegram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для ежедневных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стендапов</a:t>
            </a:r>
            <a:endParaRPr lang="ru-RU" sz="17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Google Meet </a:t>
            </a:r>
            <a:r>
              <a:rPr lang="ru-RU" sz="1700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sz="1700" dirty="0" err="1" smtClean="0">
                <a:latin typeface="Times New Roman" pitchFamily="18" charset="0"/>
                <a:cs typeface="Times New Roman" pitchFamily="18" charset="0"/>
              </a:rPr>
              <a:t>видеовстреч</a:t>
            </a:r>
            <a:endParaRPr lang="ru-RU" sz="17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Статистика и метрики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601355" y="1492490"/>
            <a:ext cx="4885045" cy="4461482"/>
          </a:xfrm>
        </p:spPr>
        <p:txBody>
          <a:bodyPr/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График активности: 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0" name="AutoShape 2" descr="blob:https://web.telegram.org/51bcf0f8-efc0-4023-9369-7910ea347c6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52" name="AutoShape 4" descr="blob:https://web.telegram.org/51bcf0f8-efc0-4023-9369-7910ea347c6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4404" y="1871378"/>
            <a:ext cx="4867275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6018663" y="1473958"/>
            <a:ext cx="27704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Процесс работы: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- Создание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Issue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для каждой задачи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- Разработка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feature-ветках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Code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Review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от 1 участника</a:t>
            </a: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- Слияние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через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Pull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Request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- Ежедневные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15-минутные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стендапы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 умеет наше приложение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? И как мы это сделали?(1)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464024" y="1396956"/>
            <a:ext cx="3547565" cy="513731"/>
          </a:xfrm>
        </p:spPr>
        <p:txBody>
          <a:bodyPr/>
          <a:lstStyle/>
          <a:p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Скриншот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1: Главное меню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26" name="AutoShape 2" descr="blob:https://web.telegram.org/616d34e7-8252-4ae7-90db-b78655e77a2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628" name="AutoShape 4" descr="blob:https://web.telegram.org/616d34e7-8252-4ae7-90db-b78655e77a2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630" name="AutoShape 6" descr="blob:https://web.telegram.org/616d34e7-8252-4ae7-90db-b78655e77a2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632" name="AutoShape 8" descr="blob:https://web.telegram.org/616d34e7-8252-4ae7-90db-b78655e77a2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6633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377" y="1801622"/>
            <a:ext cx="6876188" cy="1037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382138" y="2873824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Скриншот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2: Пример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вычисления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35" name="AutoShape 11" descr="blob:https://web.telegram.org/ddeec772-8dc5-47e7-9e95-6dab4037295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6636" name="Picture 1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7159" y="3389667"/>
            <a:ext cx="7012206" cy="3243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 умеет наше приложение? И как мы это сделали?(2)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669593" y="1342365"/>
            <a:ext cx="7886700" cy="4461482"/>
          </a:xfrm>
        </p:spPr>
        <p:txBody>
          <a:bodyPr/>
          <a:lstStyle/>
          <a:p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Скриншот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3: История операций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036" y="1669053"/>
            <a:ext cx="6440476" cy="499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 умеет наше приложение? И как мы это сделали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?(3)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Скриншот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4: Обработка ошибок</a:t>
            </a:r>
          </a:p>
          <a:p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Модульная структура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Каждая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функция отвечает за одну задачу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Чистый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читаемый код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Комментарии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сложных мест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8284" y="2045222"/>
            <a:ext cx="4645607" cy="1980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 какими вызовами мы столкнулись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?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sz="quarter" idx="13"/>
          </p:nvPr>
        </p:nvGraphicFramePr>
        <p:xfrm>
          <a:off x="354842" y="1364776"/>
          <a:ext cx="8284191" cy="453594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761397"/>
                <a:gridCol w="2761397"/>
                <a:gridCol w="2761397"/>
              </a:tblGrid>
              <a:tr h="903482"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Проблема</a:t>
                      </a:r>
                      <a:endParaRPr lang="ru-RU" sz="16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Решение</a:t>
                      </a:r>
                      <a:endParaRPr lang="ru-RU" sz="16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Что научились</a:t>
                      </a:r>
                      <a:endParaRPr lang="ru-RU" sz="16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52400" marR="152400" marT="95250" marB="95250" anchor="ctr"/>
                </a:tc>
              </a:tr>
              <a:tr h="903482">
                <a:tc>
                  <a:txBody>
                    <a:bodyPr/>
                    <a:lstStyle/>
                    <a:p>
                      <a:r>
                        <a:rPr lang="ru-RU" sz="1600"/>
                        <a:t>Конфликты слияния в </a:t>
                      </a:r>
                      <a:r>
                        <a:rPr lang="en-US" sz="1600"/>
                        <a:t>Git</a:t>
                      </a:r>
                      <a:endParaRPr lang="en-US" sz="1600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Использовали git merge --abort и ручное разрешение</a:t>
                      </a:r>
                      <a:endParaRPr lang="ru-RU" sz="1600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Работать с конфликтами</a:t>
                      </a:r>
                      <a:endParaRPr lang="ru-RU" sz="1600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52400" marT="95250" marB="95250" anchor="ctr"/>
                </a:tc>
              </a:tr>
              <a:tr h="903482">
                <a:tc>
                  <a:txBody>
                    <a:bodyPr/>
                    <a:lstStyle/>
                    <a:p>
                      <a:r>
                        <a:rPr lang="ru-RU" sz="1600"/>
                        <a:t>Разные среды разработки</a:t>
                      </a:r>
                      <a:endParaRPr lang="ru-RU" sz="1600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Стандартизировали настройки в .</a:t>
                      </a:r>
                      <a:r>
                        <a:rPr lang="en-US" sz="1600"/>
                        <a:t>vscode/</a:t>
                      </a:r>
                      <a:endParaRPr lang="en-US" sz="1600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Настраивать окружение</a:t>
                      </a:r>
                      <a:endParaRPr lang="ru-RU" sz="1600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52400" marT="95250" marB="95250" anchor="ctr"/>
                </a:tc>
              </a:tr>
              <a:tr h="903482">
                <a:tc>
                  <a:txBody>
                    <a:bodyPr/>
                    <a:lstStyle/>
                    <a:p>
                      <a:r>
                        <a:rPr lang="ru-RU" sz="1600"/>
                        <a:t>Согласование дизайна</a:t>
                      </a:r>
                      <a:endParaRPr lang="ru-RU" sz="1600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Проводили голосование в чате</a:t>
                      </a:r>
                      <a:endParaRPr lang="ru-RU" sz="1600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Договариваться в команде</a:t>
                      </a:r>
                      <a:endParaRPr lang="ru-RU" sz="1600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52400" marT="95250" marB="95250" anchor="ctr"/>
                </a:tc>
              </a:tr>
              <a:tr h="903482">
                <a:tc>
                  <a:txBody>
                    <a:bodyPr/>
                    <a:lstStyle/>
                    <a:p>
                      <a:r>
                        <a:rPr lang="ru-RU" sz="1600"/>
                        <a:t>Тайм-менеджмент</a:t>
                      </a:r>
                      <a:endParaRPr lang="ru-RU" sz="1600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600"/>
                        <a:t>Ввели ежедневные стендапы</a:t>
                      </a:r>
                      <a:endParaRPr lang="ru-RU" sz="1600" b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Планировать время</a:t>
                      </a:r>
                      <a:endParaRPr lang="ru-RU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52400" marT="95250" marB="95250" anchor="ctr"/>
                </a:tc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361664" y="6082156"/>
            <a:ext cx="71446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Ключевой вывод: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Коммуникация — основа успешной командной работы</a:t>
            </a:r>
            <a:br>
              <a:rPr lang="ru-RU" sz="1600" dirty="0" smtClean="0">
                <a:latin typeface="Times New Roman" pitchFamily="18" charset="0"/>
                <a:cs typeface="Times New Roman" pitchFamily="18" charset="0"/>
              </a:rPr>
            </a:b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епозиторий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492173" y="1342365"/>
            <a:ext cx="7886700" cy="4461482"/>
          </a:xfrm>
        </p:spPr>
        <p:txBody>
          <a:bodyPr/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Структура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репозитория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596" y="1675140"/>
            <a:ext cx="7863243" cy="4868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Документация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b="1" dirty="0" smtClean="0"/>
              <a:t>Документация включает:</a:t>
            </a:r>
            <a:endParaRPr lang="ru-RU" dirty="0" smtClean="0"/>
          </a:p>
          <a:p>
            <a:pPr marL="342900" indent="-342900">
              <a:buAutoNum type="arabicPeriod"/>
            </a:pPr>
            <a:r>
              <a:rPr lang="ru-RU" dirty="0" smtClean="0"/>
              <a:t>Инструкции </a:t>
            </a:r>
            <a:r>
              <a:rPr lang="ru-RU" dirty="0" smtClean="0"/>
              <a:t>по установке и </a:t>
            </a:r>
            <a:r>
              <a:rPr lang="ru-RU" dirty="0" smtClean="0"/>
              <a:t>запуску</a:t>
            </a:r>
          </a:p>
          <a:p>
            <a:pPr marL="342900" indent="-342900">
              <a:buAutoNum type="arabicPeriod"/>
            </a:pPr>
            <a:r>
              <a:rPr lang="ru-RU" dirty="0" smtClean="0"/>
              <a:t>Описание архитектуры</a:t>
            </a:r>
          </a:p>
          <a:p>
            <a:pPr marL="342900" indent="-342900">
              <a:buAutoNum type="arabicPeriod"/>
            </a:pPr>
            <a:r>
              <a:rPr lang="ru-RU" dirty="0" smtClean="0"/>
              <a:t>Правила </a:t>
            </a:r>
            <a:r>
              <a:rPr lang="ru-RU" dirty="0" err="1" smtClean="0"/>
              <a:t>contribution</a:t>
            </a:r>
            <a:endParaRPr lang="ru-RU" dirty="0" smtClean="0"/>
          </a:p>
          <a:p>
            <a:pPr marL="342900" indent="-342900">
              <a:buAutoNum type="arabicPeriod"/>
            </a:pPr>
            <a:r>
              <a:rPr lang="ru-RU" dirty="0" smtClean="0"/>
              <a:t>История изменений</a:t>
            </a:r>
          </a:p>
          <a:p>
            <a:pPr marL="342900" indent="-342900">
              <a:buAutoNum type="arabicPeriod"/>
            </a:pPr>
            <a:r>
              <a:rPr lang="ru-RU" dirty="0" smtClean="0"/>
              <a:t>Записи </a:t>
            </a:r>
            <a:r>
              <a:rPr lang="ru-RU" dirty="0" smtClean="0"/>
              <a:t>командных </a:t>
            </a:r>
            <a:r>
              <a:rPr lang="ru-RU" dirty="0" smtClean="0"/>
              <a:t>встреч</a:t>
            </a:r>
          </a:p>
          <a:p>
            <a:pPr marL="342900" indent="-342900">
              <a:buAutoNum type="arabicPeriod"/>
            </a:pPr>
            <a:endParaRPr lang="ru-RU" dirty="0" smtClean="0"/>
          </a:p>
          <a:p>
            <a:pPr marL="342900" indent="-342900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Ссылка на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репозиторий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42900" indent="-34290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https://github.com/Andrey338-MOLOt/team-project-group-1.git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Знакомьтесь — это мы!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b="1" dirty="0" smtClean="0"/>
              <a:t>Краткое содержание видео:</a:t>
            </a:r>
            <a:endParaRPr lang="ru-RU" dirty="0" smtClean="0"/>
          </a:p>
          <a:p>
            <a:pPr marL="342900" indent="-342900">
              <a:buAutoNum type="arabicPeriod"/>
            </a:pPr>
            <a:r>
              <a:rPr lang="ru-RU" dirty="0" smtClean="0"/>
              <a:t>Вступление</a:t>
            </a:r>
          </a:p>
          <a:p>
            <a:pPr marL="342900" indent="-342900">
              <a:buAutoNum type="arabicPeriod"/>
            </a:pPr>
            <a:r>
              <a:rPr lang="ru-RU" dirty="0" smtClean="0"/>
              <a:t>Представление </a:t>
            </a:r>
            <a:r>
              <a:rPr lang="ru-RU" dirty="0" smtClean="0"/>
              <a:t>каждого </a:t>
            </a:r>
            <a:r>
              <a:rPr lang="ru-RU" dirty="0" smtClean="0"/>
              <a:t>участника</a:t>
            </a:r>
          </a:p>
          <a:p>
            <a:pPr marL="342900" indent="-342900">
              <a:buAutoNum type="arabicPeriod"/>
            </a:pPr>
            <a:r>
              <a:rPr lang="ru-RU" dirty="0" smtClean="0"/>
              <a:t>Демонстрация проекта</a:t>
            </a:r>
          </a:p>
          <a:p>
            <a:pPr marL="342900" indent="-342900">
              <a:buAutoNum type="arabicPeriod"/>
            </a:pPr>
            <a:r>
              <a:rPr lang="ru-RU" dirty="0" smtClean="0"/>
              <a:t>Личные </a:t>
            </a:r>
            <a:r>
              <a:rPr lang="ru-RU" dirty="0" smtClean="0"/>
              <a:t>выводы и благодарности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 мы получили от практики?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sz="quarter" idx="13"/>
          </p:nvPr>
        </p:nvGraphicFramePr>
        <p:xfrm>
          <a:off x="8721725" y="6410325"/>
          <a:ext cx="212725" cy="25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601355" y="1328718"/>
            <a:ext cx="7886700" cy="4461482"/>
          </a:xfrm>
        </p:spPr>
        <p:txBody>
          <a:bodyPr/>
          <a:lstStyle/>
          <a:p>
            <a:r>
              <a:rPr lang="ru-RU" b="1" dirty="0" smtClean="0"/>
              <a:t>Технические </a:t>
            </a:r>
            <a:r>
              <a:rPr lang="ru-RU" b="1" dirty="0" smtClean="0"/>
              <a:t>навыки:</a:t>
            </a:r>
            <a:endParaRPr lang="ru-RU" dirty="0" smtClean="0"/>
          </a:p>
          <a:p>
            <a:pPr>
              <a:buFontTx/>
              <a:buChar char="-"/>
            </a:pPr>
            <a:r>
              <a:rPr lang="ru-RU" dirty="0" err="1" smtClean="0"/>
              <a:t>Git</a:t>
            </a:r>
            <a:r>
              <a:rPr lang="ru-RU" dirty="0" smtClean="0"/>
              <a:t>: ветвление, слияние, разрешение </a:t>
            </a:r>
            <a:r>
              <a:rPr lang="ru-RU" dirty="0" smtClean="0"/>
              <a:t>конфликтов</a:t>
            </a:r>
          </a:p>
          <a:p>
            <a:pPr>
              <a:buFontTx/>
              <a:buChar char="-"/>
            </a:pPr>
            <a:r>
              <a:rPr lang="ru-RU" dirty="0" err="1" smtClean="0"/>
              <a:t>GitHub</a:t>
            </a:r>
            <a:r>
              <a:rPr lang="ru-RU" dirty="0" smtClean="0"/>
              <a:t>: </a:t>
            </a:r>
            <a:r>
              <a:rPr lang="ru-RU" dirty="0" err="1" smtClean="0"/>
              <a:t>Issues</a:t>
            </a:r>
            <a:r>
              <a:rPr lang="ru-RU" dirty="0" smtClean="0"/>
              <a:t>, </a:t>
            </a:r>
            <a:r>
              <a:rPr lang="ru-RU" dirty="0" err="1" smtClean="0"/>
              <a:t>Pull</a:t>
            </a:r>
            <a:r>
              <a:rPr lang="ru-RU" dirty="0" smtClean="0"/>
              <a:t> </a:t>
            </a:r>
            <a:r>
              <a:rPr lang="ru-RU" dirty="0" err="1" smtClean="0"/>
              <a:t>Requests</a:t>
            </a:r>
            <a:r>
              <a:rPr lang="ru-RU" dirty="0" smtClean="0"/>
              <a:t>, </a:t>
            </a:r>
            <a:r>
              <a:rPr lang="ru-RU" dirty="0" err="1" smtClean="0"/>
              <a:t>Code</a:t>
            </a:r>
            <a:r>
              <a:rPr lang="ru-RU" dirty="0" smtClean="0"/>
              <a:t> </a:t>
            </a:r>
            <a:r>
              <a:rPr lang="ru-RU" dirty="0" err="1" smtClean="0"/>
              <a:t>Review</a:t>
            </a:r>
            <a:endParaRPr lang="ru-RU" dirty="0" smtClean="0"/>
          </a:p>
          <a:p>
            <a:pPr>
              <a:buFontTx/>
              <a:buChar char="-"/>
            </a:pPr>
            <a:r>
              <a:rPr lang="ru-RU" dirty="0" err="1" smtClean="0"/>
              <a:t>Python</a:t>
            </a:r>
            <a:r>
              <a:rPr lang="ru-RU" dirty="0" smtClean="0"/>
              <a:t>: разработка </a:t>
            </a:r>
            <a:r>
              <a:rPr lang="ru-RU" dirty="0" smtClean="0"/>
              <a:t>CLI-приложений</a:t>
            </a:r>
          </a:p>
          <a:p>
            <a:pPr>
              <a:buFontTx/>
              <a:buChar char="-"/>
            </a:pPr>
            <a:r>
              <a:rPr lang="ru-RU" dirty="0" err="1" smtClean="0"/>
              <a:t>Markdown</a:t>
            </a:r>
            <a:r>
              <a:rPr lang="ru-RU" dirty="0" smtClean="0"/>
              <a:t>: создание документации</a:t>
            </a:r>
          </a:p>
          <a:p>
            <a:r>
              <a:rPr lang="ru-RU" b="1" dirty="0" err="1" smtClean="0"/>
              <a:t>Soft</a:t>
            </a:r>
            <a:r>
              <a:rPr lang="ru-RU" b="1" dirty="0" smtClean="0"/>
              <a:t> </a:t>
            </a:r>
            <a:r>
              <a:rPr lang="ru-RU" b="1" dirty="0" err="1" smtClean="0"/>
              <a:t>skills</a:t>
            </a:r>
            <a:r>
              <a:rPr lang="ru-RU" b="1" dirty="0" smtClean="0"/>
              <a:t>:</a:t>
            </a:r>
            <a:endParaRPr lang="ru-RU" dirty="0" smtClean="0"/>
          </a:p>
          <a:p>
            <a:pPr>
              <a:buFontTx/>
              <a:buChar char="-"/>
            </a:pPr>
            <a:r>
              <a:rPr lang="ru-RU" dirty="0" smtClean="0"/>
              <a:t>Командная </a:t>
            </a:r>
            <a:r>
              <a:rPr lang="ru-RU" dirty="0" smtClean="0"/>
              <a:t>работа и распределение </a:t>
            </a:r>
            <a:r>
              <a:rPr lang="ru-RU" dirty="0" smtClean="0"/>
              <a:t>задач</a:t>
            </a:r>
          </a:p>
          <a:p>
            <a:pPr>
              <a:buFontTx/>
              <a:buChar char="-"/>
            </a:pPr>
            <a:r>
              <a:rPr lang="ru-RU" dirty="0" smtClean="0"/>
              <a:t>Тайм-менеджмент </a:t>
            </a:r>
            <a:r>
              <a:rPr lang="ru-RU" dirty="0" smtClean="0"/>
              <a:t>и </a:t>
            </a:r>
            <a:r>
              <a:rPr lang="ru-RU" dirty="0" smtClean="0"/>
              <a:t>планирование</a:t>
            </a:r>
          </a:p>
          <a:p>
            <a:pPr>
              <a:buFontTx/>
              <a:buChar char="-"/>
            </a:pPr>
            <a:r>
              <a:rPr lang="ru-RU" dirty="0" smtClean="0"/>
              <a:t>Презентация результатов</a:t>
            </a:r>
          </a:p>
          <a:p>
            <a:pPr>
              <a:buFontTx/>
              <a:buChar char="-"/>
            </a:pPr>
            <a:r>
              <a:rPr lang="ru-RU" dirty="0" smtClean="0"/>
              <a:t>Навыки </a:t>
            </a:r>
            <a:r>
              <a:rPr lang="ru-RU" dirty="0" smtClean="0"/>
              <a:t>коммуникации и обратной связи</a:t>
            </a:r>
          </a:p>
          <a:p>
            <a:endParaRPr lang="ru-RU" dirty="0"/>
          </a:p>
        </p:txBody>
      </p:sp>
      <p:graphicFrame>
        <p:nvGraphicFramePr>
          <p:cNvPr id="7" name="Диаграмма 6"/>
          <p:cNvGraphicFramePr/>
          <p:nvPr/>
        </p:nvGraphicFramePr>
        <p:xfrm>
          <a:off x="3502924" y="4817660"/>
          <a:ext cx="5313529" cy="2040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40490" y="4394579"/>
            <a:ext cx="3889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Диаграмма с самооценкой</a:t>
            </a:r>
            <a:endParaRPr lang="ru-RU" sz="1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Куда мы движемся дальше?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1. Краткосрочные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планы: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Добавить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графический интерфейс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PyQt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FontTx/>
              <a:buChar char="-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Реализовать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сохранение истории в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файл</a:t>
            </a:r>
          </a:p>
          <a:p>
            <a:pPr>
              <a:buFontTx/>
              <a:buChar char="-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Добавить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научные функции (степени, корни, проценты)</a:t>
            </a:r>
          </a:p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2. Долгосрочные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планы: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Версия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Flask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Django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FontTx/>
              <a:buChar char="-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Мобильное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приложение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Kivy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FontTx/>
              <a:buChar char="-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Интеграция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 облачными вычислениями</a:t>
            </a:r>
          </a:p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3. Концепт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будущего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"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Умный калькулятор" с AI-подсказками и аналитикой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вычислений</a:t>
            </a: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Ссылка на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видеовизитку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скриншоты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проделанной работы: </a:t>
            </a:r>
          </a:p>
          <a:p>
            <a:r>
              <a:rPr lang="en-US" u="sng" dirty="0" smtClean="0">
                <a:hlinkClick r:id="rId2"/>
              </a:rPr>
              <a:t>https</a:t>
            </a:r>
            <a:r>
              <a:rPr lang="en-US" u="sng" dirty="0" smtClean="0">
                <a:hlinkClick r:id="rId2"/>
              </a:rPr>
              <a:t>://disk.yandex.ru/d/Bm2jpggWrQgZyw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988355708"/>
      </p:ext>
    </p:extLst>
  </p:cSld>
  <p:clrMapOvr>
    <a:masterClrMapping/>
  </p:clrMapOvr>
</p:sld>
</file>

<file path=ppt/theme/theme1.xml><?xml version="1.0" encoding="utf-8"?>
<a:theme xmlns:a="http://schemas.openxmlformats.org/drawingml/2006/main" name="РГСУ (8)">
  <a:themeElements>
    <a:clrScheme name="Другая 3">
      <a:dk1>
        <a:srgbClr val="0F2F50"/>
      </a:dk1>
      <a:lt1>
        <a:srgbClr val="FFFFFF"/>
      </a:lt1>
      <a:dk2>
        <a:srgbClr val="0F2F50"/>
      </a:dk2>
      <a:lt2>
        <a:srgbClr val="FFFFFF"/>
      </a:lt2>
      <a:accent1>
        <a:srgbClr val="007FFF"/>
      </a:accent1>
      <a:accent2>
        <a:srgbClr val="EE1E45"/>
      </a:accent2>
      <a:accent3>
        <a:srgbClr val="97CBFF"/>
      </a:accent3>
      <a:accent4>
        <a:srgbClr val="F793A6"/>
      </a:accent4>
      <a:accent5>
        <a:srgbClr val="3F9FFF"/>
      </a:accent5>
      <a:accent6>
        <a:srgbClr val="FBD3DB"/>
      </a:accent6>
      <a:hlink>
        <a:srgbClr val="007FFF"/>
      </a:hlink>
      <a:folHlink>
        <a:srgbClr val="EE1E45"/>
      </a:folHlink>
    </a:clrScheme>
    <a:fontScheme name="РГСУ">
      <a:majorFont>
        <a:latin typeface="Evolventa"/>
        <a:ea typeface=""/>
        <a:cs typeface=""/>
      </a:majorFont>
      <a:minorFont>
        <a:latin typeface="Evolvent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defRPr sz="1200" dirty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РГСУ" id="{07D63FF7-E306-47F2-9899-E5018E9389DD}" vid="{B0B90AB9-CB85-4A17-9672-325B1C5A3FA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РГСУ (8)</Template>
  <TotalTime>83</TotalTime>
  <Words>514</Words>
  <Application>Microsoft Office PowerPoint</Application>
  <PresentationFormat>Экран (4:3)</PresentationFormat>
  <Paragraphs>142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РГСУ (8)</vt:lpstr>
      <vt:lpstr>Калькулятор «Акселион» с историей вычислений </vt:lpstr>
      <vt:lpstr>Что мы хотели достичь?</vt:lpstr>
      <vt:lpstr>Как устроен наш проект?</vt:lpstr>
      <vt:lpstr>Кто за что отвечал?</vt:lpstr>
      <vt:lpstr>Чем мы пользовались?</vt:lpstr>
      <vt:lpstr>Статистика и метрики</vt:lpstr>
      <vt:lpstr>Что умеет наше приложение? И как мы это сделали?(1)</vt:lpstr>
      <vt:lpstr>Что умеет наше приложение? И как мы это сделали?(2)</vt:lpstr>
      <vt:lpstr>Что умеет наше приложение? И как мы это сделали?(3)</vt:lpstr>
      <vt:lpstr>С какими вызовами мы столкнулись?</vt:lpstr>
      <vt:lpstr>Репозиторий</vt:lpstr>
      <vt:lpstr>Документация</vt:lpstr>
      <vt:lpstr>Знакомьтесь — это мы!</vt:lpstr>
      <vt:lpstr>Что мы получили от практики?</vt:lpstr>
      <vt:lpstr>Куда мы движемся дальше?</vt:lpstr>
      <vt:lpstr>Слайд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bychkovala</dc:creator>
  <cp:lastModifiedBy>olesya</cp:lastModifiedBy>
  <cp:revision>16</cp:revision>
  <dcterms:created xsi:type="dcterms:W3CDTF">2022-10-17T06:28:46Z</dcterms:created>
  <dcterms:modified xsi:type="dcterms:W3CDTF">2026-01-13T19:11:16Z</dcterms:modified>
</cp:coreProperties>
</file>